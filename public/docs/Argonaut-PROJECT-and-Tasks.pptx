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>
                <a:solidFill>
                  <a:srgbClr val="38E8FF"/>
                </a:solidFill>
                <a:latin typeface="Verdana"/>
              </a:rPr>
              <a:t>ARGONAUT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400" b="1">
                <a:solidFill>
                  <a:srgbClr val="E9EDF6"/>
                </a:solidFill>
                <a:latin typeface="Verdana"/>
              </a:rPr>
              <a:t>PROJECT &amp;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8B93A7"/>
                </a:solidFill>
                <a:latin typeface="Verdana"/>
              </a:rPr>
              <a:t>How to run a project, keep its milestones in order,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900" b="0">
                <a:solidFill>
                  <a:srgbClr val="8B93A7"/>
                </a:solidFill>
                <a:latin typeface="Verdana"/>
              </a:rPr>
              <a:t>and track the work underneath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463040" cy="38100"/>
          </a:xfrm>
          <a:prstGeom prst="rect">
            <a:avLst/>
          </a:prstGeom>
          <a:solidFill>
            <a:srgbClr val="A57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5A6274"/>
                </a:solidFill>
                <a:latin typeface="Verdana"/>
              </a:rPr>
              <a:t>A guide to what is built and live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5212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8E8FF"/>
                </a:solidFill>
                <a:latin typeface="Verdana"/>
              </a:rPr>
              <a:t>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5212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A57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574FF"/>
                </a:solidFill>
                <a:latin typeface="Verdana"/>
              </a:rPr>
              <a:t>Milestones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5212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4C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4C6BFF"/>
                </a:solidFill>
                <a:latin typeface="Verdana"/>
              </a:rPr>
              <a:t>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80" y="5212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8B9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8B93A7"/>
                </a:solidFill>
                <a:latin typeface="Verdana"/>
              </a:rPr>
              <a:t>Roadblocks &amp; Risks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38E8FF"/>
                </a:solidFill>
                <a:latin typeface="Verdana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9EDF6"/>
                </a:solidFill>
                <a:latin typeface="Verdana"/>
              </a:rPr>
              <a:t>How the module is laid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82296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A6274"/>
                </a:solidFill>
                <a:latin typeface="Verdan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3A7"/>
                </a:solidFill>
                <a:latin typeface="Verdana"/>
              </a:rPr>
              <a:t>PROJECT holds a list of projects. Open one and everything about it lives under Project Info.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2377440" cy="105156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8833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9EDF6"/>
                </a:solidFill>
                <a:latin typeface="Verdana"/>
              </a:rPr>
              <a:t>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Left-hand menu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64992" y="2880360"/>
            <a:ext cx="384048" cy="219456"/>
          </a:xfrm>
          <a:prstGeom prst="rightArrow">
            <a:avLst/>
          </a:prstGeom>
          <a:solidFill>
            <a:srgbClr val="5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13632" y="2468880"/>
            <a:ext cx="2377440" cy="105156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2" y="268833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9EDF6"/>
                </a:solidFill>
                <a:latin typeface="Verdana"/>
              </a:rPr>
              <a:t>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303580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The list, and where you add one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55664" y="2880360"/>
            <a:ext cx="384048" cy="219456"/>
          </a:xfrm>
          <a:prstGeom prst="rightArrow">
            <a:avLst/>
          </a:prstGeom>
          <a:solidFill>
            <a:srgbClr val="5A62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04304" y="2468880"/>
            <a:ext cx="4572000" cy="2651760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78624" y="268833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38E8FF"/>
                </a:solidFill>
                <a:latin typeface="Verdana"/>
              </a:rPr>
              <a:t>Project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3017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One project's record. Four views: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338328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9EDF6"/>
                </a:solidFill>
                <a:latin typeface="Verdana"/>
              </a:rPr>
              <a:t>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34015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name, dates, customer, managers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38039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9EDF6"/>
                </a:solidFill>
                <a:latin typeface="Verdana"/>
              </a:rPr>
              <a:t>Milestone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4504" y="382219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the run of checkpoints, and tasks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42245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9EDF6"/>
                </a:solidFill>
                <a:latin typeface="Verdana"/>
              </a:rPr>
              <a:t>Roadblocks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424281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what is stopping the work 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8624" y="464515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9EDF6"/>
                </a:solidFill>
                <a:latin typeface="Verdana"/>
              </a:rPr>
              <a:t>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4504" y="4663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what might go wrong later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977639"/>
            <a:ext cx="6400800" cy="1051560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A57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169663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A574FF"/>
                </a:solidFill>
                <a:latin typeface="Verdana"/>
              </a:rPr>
              <a:t>Who can see a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46227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You see a project only if you created it or are a member of it. Owner and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Administrator see all of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38E8FF"/>
                </a:solidFill>
                <a:latin typeface="Verdana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9EDF6"/>
                </a:solidFill>
                <a:latin typeface="Verdana"/>
              </a:rPr>
              <a:t>Create a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82296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A6274"/>
                </a:solidFill>
                <a:latin typeface="Verdana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85216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048255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8424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Open PROJECT ›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219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The list of everything you are 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60903"/>
            <a:ext cx="585216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834639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770631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Fill in 'Add a project'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008375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Only the name is required — come back for the rest.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47287"/>
            <a:ext cx="585216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621023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57015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Pick the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794759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Choose a BOU, then a person, then their part. Repeat.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33671"/>
            <a:ext cx="585216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" y="4407407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4339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Create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581143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It appears at the top of the list, ready to open.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1874519"/>
            <a:ext cx="4297680" cy="320040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10312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8E8FF"/>
                </a:solidFill>
                <a:latin typeface="Verdana"/>
              </a:rPr>
              <a:t>What you can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514600"/>
            <a:ext cx="14648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5A6274"/>
                </a:solidFill>
                <a:latin typeface="Verdana"/>
              </a:rPr>
              <a:t>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9796" y="2514600"/>
            <a:ext cx="206471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>
                <a:solidFill>
                  <a:srgbClr val="5A6274"/>
                </a:solidFill>
                <a:latin typeface="Verdana"/>
              </a:rPr>
              <a:t>NOTES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752344"/>
            <a:ext cx="3749039" cy="12700"/>
          </a:xfrm>
          <a:prstGeom prst="rect">
            <a:avLst/>
          </a:prstGeom>
          <a:solidFill>
            <a:srgbClr val="24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880360"/>
            <a:ext cx="14648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9EDF6"/>
                </a:solidFill>
                <a:latin typeface="Verdana"/>
              </a:rPr>
              <a:t>Project 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9796" y="2880360"/>
            <a:ext cx="206471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264408"/>
            <a:ext cx="14648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9EDF6"/>
                </a:solidFill>
                <a:latin typeface="Verdana"/>
              </a:rPr>
              <a:t>Description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9796" y="3264408"/>
            <a:ext cx="206471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optional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648456"/>
            <a:ext cx="14648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9EDF6"/>
                </a:solidFill>
                <a:latin typeface="Verdana"/>
              </a:rPr>
              <a:t>Customer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9796" y="3648456"/>
            <a:ext cx="206471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free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032504"/>
            <a:ext cx="14648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9EDF6"/>
                </a:solidFill>
                <a:latin typeface="Verdana"/>
              </a:rPr>
              <a:t>Date launched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89796" y="4032504"/>
            <a:ext cx="206471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optional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416552"/>
            <a:ext cx="14648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9EDF6"/>
                </a:solidFill>
                <a:latin typeface="Verdana"/>
              </a:rPr>
              <a:t>Date closed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9796" y="4416552"/>
            <a:ext cx="206471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blank while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800600"/>
            <a:ext cx="14648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9EDF6"/>
                </a:solidFill>
                <a:latin typeface="Verdana"/>
              </a:rPr>
              <a:t>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89796" y="4800600"/>
            <a:ext cx="206471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Planning · Active · On 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184648"/>
            <a:ext cx="146486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E9EDF6"/>
                </a:solidFill>
                <a:latin typeface="Verdana"/>
              </a:rPr>
              <a:t>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89796" y="5184648"/>
            <a:ext cx="206471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with their part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38E8FF"/>
                </a:solidFill>
                <a:latin typeface="Verdana"/>
              </a:rPr>
              <a:t>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9EDF6"/>
                </a:solidFill>
                <a:latin typeface="Verdana"/>
              </a:rPr>
              <a:t>Members and who runs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82296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A6274"/>
                </a:solidFill>
                <a:latin typeface="Verdana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3A7"/>
                </a:solidFill>
                <a:latin typeface="Verdana"/>
              </a:rPr>
              <a:t>Membership does two jobs: it says who is on the work, and it is what grants access to the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2468880" cy="114300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25786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8E8FF"/>
                </a:solidFill>
                <a:latin typeface="Verdana"/>
              </a:rPr>
              <a:t>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358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Runs a workstream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377440"/>
            <a:ext cx="2468880" cy="114300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76472" y="25786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4C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4C6BFF"/>
                </a:solidFill>
                <a:latin typeface="Verdana"/>
              </a:rPr>
              <a:t>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30358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Does the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77440"/>
            <a:ext cx="2468880" cy="114300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2" y="25786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A57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574FF"/>
                </a:solidFill>
                <a:latin typeface="Verdana"/>
              </a:rPr>
              <a:t>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0358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Checks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377440"/>
            <a:ext cx="2468880" cy="114300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71432" y="25786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8B9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8B93A7"/>
                </a:solidFill>
                <a:latin typeface="Verdana"/>
              </a:rPr>
              <a:t>Sponsor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0358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Answers for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40480"/>
            <a:ext cx="10515600" cy="1554480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6908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38E8FF"/>
                </a:solidFill>
                <a:latin typeface="Verdana"/>
              </a:rPr>
              <a:t>Project Manager and OIC Project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07408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Set on the Details view. Pick a BOU first, then the person — so you are choosing from the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right team rather than the whole company. The OIC is who covers when the manager cannot.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The project manager is the one person the system emails when work is assigned.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38E8FF"/>
                </a:solidFill>
                <a:latin typeface="Verdana"/>
              </a:rPr>
              <a:t>MILESTONE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9EDF6"/>
                </a:solidFill>
                <a:latin typeface="Verdana"/>
              </a:rPr>
              <a:t>Milestones are a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82296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A6274"/>
                </a:solidFill>
                <a:latin typeface="Verdana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3A7"/>
                </a:solidFill>
                <a:latin typeface="Verdana"/>
              </a:rPr>
              <a:t>A project moves through its milestones in the order you set — not the order their dates imply.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505456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9EDF6"/>
                </a:solidFill>
                <a:latin typeface="Verdana"/>
              </a:rPr>
              <a:t>Add one on a single row.</a:t>
            </a:r>
            <a:r>
              <a:rPr sz="1500">
                <a:solidFill>
                  <a:srgbClr val="8B93A7"/>
                </a:solidFill>
                <a:latin typeface="Verdana"/>
              </a:rPr>
              <a:t>  Name, description, due date, owner, status.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08960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26664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9EDF6"/>
                </a:solidFill>
                <a:latin typeface="Verdana"/>
              </a:rPr>
              <a:t>Order them with ▲ ▼.</a:t>
            </a:r>
            <a:r>
              <a:rPr sz="1500">
                <a:solidFill>
                  <a:srgbClr val="8B93A7"/>
                </a:solidFill>
                <a:latin typeface="Verdana"/>
              </a:rPr>
              <a:t>  The arrows move a milestone up or down the run.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712464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3016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9EDF6"/>
                </a:solidFill>
                <a:latin typeface="Verdana"/>
              </a:rPr>
              <a:t>The current milestone</a:t>
            </a:r>
            <a:r>
              <a:rPr sz="1500">
                <a:solidFill>
                  <a:srgbClr val="8B93A7"/>
                </a:solidFill>
                <a:latin typeface="Verdana"/>
              </a:rPr>
              <a:t>  is the first one not yet reached, shown in a card on top.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315968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233672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9EDF6"/>
                </a:solidFill>
                <a:latin typeface="Verdana"/>
              </a:rPr>
              <a:t>Rename in place</a:t>
            </a:r>
            <a:r>
              <a:rPr sz="1500">
                <a:solidFill>
                  <a:srgbClr val="8B93A7"/>
                </a:solidFill>
                <a:latin typeface="Verdana"/>
              </a:rPr>
              <a:t>  with the pencil. The old name is kept in the change trail.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919472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837176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9EDF6"/>
                </a:solidFill>
                <a:latin typeface="Verdana"/>
              </a:rPr>
              <a:t>Owners come from the members.</a:t>
            </a:r>
            <a:r>
              <a:rPr sz="1500">
                <a:solidFill>
                  <a:srgbClr val="8B93A7"/>
                </a:solidFill>
                <a:latin typeface="Verdana"/>
              </a:rPr>
              <a:t>  Add someone to the project to make them pickable.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2377440"/>
            <a:ext cx="4480560" cy="265176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6060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8E8FF"/>
                </a:solidFill>
                <a:latin typeface="Verdana"/>
              </a:rPr>
              <a:t>Milestone 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0632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8B93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8B93A7"/>
                </a:solidFill>
                <a:latin typeface="Verdana"/>
              </a:rPr>
              <a:t>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1181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not started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5204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8E8FF"/>
                </a:solidFill>
                <a:latin typeface="Verdana"/>
              </a:rPr>
              <a:t>In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5753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being worked on now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3977639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4C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4C6BFF"/>
                </a:solidFill>
                <a:latin typeface="Verdana"/>
              </a:rPr>
              <a:t>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4032503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reached; stamps the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44348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A57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574FF"/>
                </a:solidFill>
                <a:latin typeface="Verdana"/>
              </a:rPr>
              <a:t>Missed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489704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8B93A7"/>
                </a:solidFill>
                <a:latin typeface="Verdana"/>
              </a:rPr>
              <a:t>passed without being reached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38E8FF"/>
                </a:solidFill>
                <a:latin typeface="Verdana"/>
              </a:rPr>
              <a:t>MILESTONE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9EDF6"/>
                </a:solidFill>
                <a:latin typeface="Verdana"/>
              </a:rPr>
              <a:t>Tasks sit under their milestone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82296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A6274"/>
                </a:solidFill>
                <a:latin typeface="Verdana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8B93A7"/>
                </a:solidFill>
                <a:latin typeface="Verdana"/>
              </a:rPr>
              <a:t>Every milestone carries its own tasks. They are the actual work that gets the project to that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8B93A7"/>
                </a:solidFill>
                <a:latin typeface="Verdana"/>
              </a:rPr>
              <a:t>checkpoint — so they live in the milestone's row, not in a list of their 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515600" cy="1371600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38E8FF"/>
                </a:solidFill>
                <a:latin typeface="Verdana"/>
              </a:rPr>
              <a:t>A task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50" b="1">
                <a:solidFill>
                  <a:srgbClr val="E9EDF6"/>
                </a:solidFill>
                <a:latin typeface="Verdana"/>
              </a:rPr>
              <a:t>Task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478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Verdana"/>
              </a:rPr>
              <a:t>what is being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2918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50" b="1">
                <a:solidFill>
                  <a:srgbClr val="E9EDF6"/>
                </a:solidFill>
                <a:latin typeface="Verdana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5478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Verdana"/>
              </a:rPr>
              <a:t>detail, optional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918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50" b="1">
                <a:solidFill>
                  <a:srgbClr val="E9EDF6"/>
                </a:solidFill>
                <a:latin typeface="Verdana"/>
              </a:rPr>
              <a:t>Started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5478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Verdana"/>
              </a:rPr>
              <a:t>when work began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2918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50" b="1">
                <a:solidFill>
                  <a:srgbClr val="E9EDF6"/>
                </a:solidFill>
                <a:latin typeface="Verdana"/>
              </a:rPr>
              <a:t>Closed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5478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Verdana"/>
              </a:rPr>
              <a:t>when it finished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918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250" b="1">
                <a:solidFill>
                  <a:srgbClr val="E9EDF6"/>
                </a:solidFill>
                <a:latin typeface="Verdana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547872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8B93A7"/>
                </a:solidFill>
                <a:latin typeface="Verdana"/>
              </a:rPr>
              <a:t>Open or Closed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425696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34340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9EDF6"/>
                </a:solidFill>
                <a:latin typeface="Verdana"/>
              </a:rPr>
              <a:t>Anyone on the project can add a task.</a:t>
            </a:r>
            <a:r>
              <a:rPr sz="1500">
                <a:solidFill>
                  <a:srgbClr val="8B93A7"/>
                </a:solidFill>
                <a:latin typeface="Verdana"/>
              </a:rPr>
              <a:t>  That includes the person carrying the milestone.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974336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9EDF6"/>
                </a:solidFill>
                <a:latin typeface="Verdana"/>
              </a:rPr>
              <a:t>Closing a task stamps the date.</a:t>
            </a:r>
            <a:r>
              <a:rPr sz="1500">
                <a:solidFill>
                  <a:srgbClr val="8B93A7"/>
                </a:solidFill>
                <a:latin typeface="Verdana"/>
              </a:rPr>
              <a:t>  Leave 'Closed on' blank and it fills itself in.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522976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406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9EDF6"/>
                </a:solidFill>
                <a:latin typeface="Verdana"/>
              </a:rPr>
              <a:t>A milestone with tasks cannot be deleted.</a:t>
            </a:r>
            <a:r>
              <a:rPr sz="1500">
                <a:solidFill>
                  <a:srgbClr val="8B93A7"/>
                </a:solidFill>
                <a:latin typeface="Verdana"/>
              </a:rPr>
              <a:t>  The bin is disabled until its tasks are cleared.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38E8FF"/>
                </a:solidFill>
                <a:latin typeface="Verdana"/>
              </a:rPr>
              <a:t>ROADBLOCKS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9EDF6"/>
                </a:solidFill>
                <a:latin typeface="Verdana"/>
              </a:rPr>
              <a:t>Two different things, kept apart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82296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A6274"/>
                </a:solidFill>
                <a:latin typeface="Verdana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5029200" cy="310896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945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A57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A574FF"/>
                </a:solidFill>
                <a:latin typeface="Verdana"/>
              </a:rPr>
              <a:t>Roadblock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974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9EDF6"/>
                </a:solidFill>
                <a:latin typeface="Verdana"/>
              </a:rPr>
              <a:t>Something stopping the work now.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9EDF6"/>
                </a:solidFill>
                <a:latin typeface="Verdana"/>
              </a:rPr>
              <a:t>A risk that has already happened.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2900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Record what is blocking it, how bad it is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(Low → Critical), who owns it, and where it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stands: Open, Escalated or Resolved.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Resolving one stamps the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920240"/>
            <a:ext cx="5029200" cy="310896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219456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71A23"/>
          </a:solidFill>
          <a:ln w="9525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38E8FF"/>
                </a:solidFill>
                <a:latin typeface="Verdana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9748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9EDF6"/>
                </a:solidFill>
                <a:latin typeface="Verdana"/>
              </a:rPr>
              <a:t>Something that might go wrong.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E9EDF6"/>
                </a:solidFill>
                <a:latin typeface="Verdana"/>
              </a:rPr>
              <a:t>Managed before it bites.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429000"/>
            <a:ext cx="4389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Record how likely it is, how hard it would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hit, what reduces it, and where it stands: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Open, Mitigated, Accepted or Closed.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5A6274"/>
                </a:solidFill>
                <a:latin typeface="Verdana"/>
              </a:rPr>
              <a:t>They are separate on purpose — a risk you are managing and a problem you are already in need different attention.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38E8FF"/>
                </a:solidFill>
                <a:latin typeface="Verdana"/>
              </a:rPr>
              <a:t>AUTOMATIC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9EDF6"/>
                </a:solidFill>
                <a:latin typeface="Verdana"/>
              </a:rPr>
              <a:t>What the system does 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82296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A6274"/>
                </a:solidFill>
                <a:latin typeface="Verdana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029200" cy="292608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8E8FF"/>
                </a:solidFill>
                <a:latin typeface="Verdana"/>
              </a:rPr>
              <a:t>The project manager is emailed when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679192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9EDF6"/>
                </a:solidFill>
                <a:latin typeface="Verdana"/>
              </a:rPr>
              <a:t>someone is assigned to the project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182112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9EDF6"/>
                </a:solidFill>
                <a:latin typeface="Verdana"/>
              </a:rPr>
              <a:t>a task is added under a milestone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685032"/>
            <a:ext cx="82296" cy="82296"/>
          </a:xfrm>
          <a:prstGeom prst="ellipse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E9EDF6"/>
                </a:solidFill>
                <a:latin typeface="Verdana"/>
              </a:rPr>
              <a:t>the project is handed to a new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06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5A6274"/>
                </a:solidFill>
                <a:latin typeface="Verdana"/>
              </a:rPr>
              <a:t>Only the manager, on purpose. Copying every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5A6274"/>
                </a:solidFill>
                <a:latin typeface="Verdana"/>
              </a:rPr>
              <a:t>member would turn a useful signal into noise.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74519"/>
            <a:ext cx="5029200" cy="2926080"/>
          </a:xfrm>
          <a:prstGeom prst="roundRect">
            <a:avLst>
              <a:gd name="adj" fmla="val 4500"/>
            </a:avLst>
          </a:prstGeom>
          <a:solidFill>
            <a:srgbClr val="11131A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A574FF"/>
                </a:solidFill>
                <a:latin typeface="Verdana"/>
              </a:rPr>
              <a:t>Every change is kept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4389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Edit a project and the system records the field,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what it was, what it became, who changed it and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when — written in the same step as the change,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so a saved edit can never exist without its trail.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/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8B93A7"/>
                </a:solidFill>
                <a:latin typeface="Verdana"/>
              </a:rPr>
              <a:t>Renaming a milestone is recorded the same 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1">
                <a:solidFill>
                  <a:srgbClr val="38E8FF"/>
                </a:solidFill>
                <a:latin typeface="Verdana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>
                <a:solidFill>
                  <a:srgbClr val="E9EDF6"/>
                </a:solidFill>
                <a:latin typeface="Verdana"/>
              </a:rPr>
              <a:t>A project, start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82296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0" y="548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5A6274"/>
                </a:solidFill>
                <a:latin typeface="Verdana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002536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93852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Create the project and add its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7627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Name it, say who the customer is, pick the people and their parts.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15184"/>
            <a:ext cx="1051560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788920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724912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Set the manager and the OIC on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962656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Choose the BOU, then the person. The manager gets the notifications.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01568"/>
            <a:ext cx="1051560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8" y="3575304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11296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Lay out the milestones in 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7490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Add each checkpoint, then use the arrows to put the run in sequence.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87952"/>
            <a:ext cx="1051560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" y="4361688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297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Add tasks under the milestone being worked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53542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Anyone on the project can. Mark each Closed as it finishes.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74336"/>
            <a:ext cx="1051560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24128" y="5148072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08406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Raise roadblocks and risks as they appear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32180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Roadblock for what is stopping you now, Risk for what might.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760720"/>
            <a:ext cx="10515600" cy="658368"/>
          </a:xfrm>
          <a:prstGeom prst="roundRect">
            <a:avLst>
              <a:gd name="adj" fmla="val 4500"/>
            </a:avLst>
          </a:prstGeom>
          <a:solidFill>
            <a:srgbClr val="171A23"/>
          </a:solidFill>
          <a:ln w="9525">
            <a:solidFill>
              <a:srgbClr val="24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4128" y="5934456"/>
            <a:ext cx="310896" cy="310896"/>
          </a:xfrm>
          <a:prstGeom prst="ellipse">
            <a:avLst/>
          </a:prstGeom>
          <a:solidFill>
            <a:srgbClr val="06070B"/>
          </a:solidFill>
          <a:ln w="12700">
            <a:solidFill>
              <a:srgbClr val="38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38E8FF"/>
                </a:solidFill>
                <a:latin typeface="Verdan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87044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"/>
              </a:spcAft>
            </a:pPr>
            <a:r>
              <a:rPr sz="1400" b="1">
                <a:solidFill>
                  <a:srgbClr val="E9EDF6"/>
                </a:solidFill>
                <a:latin typeface="Verdana"/>
              </a:rPr>
              <a:t>Move the milestone to Done and go to the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610819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8B93A7"/>
                </a:solidFill>
                <a:latin typeface="Verdana"/>
              </a:rPr>
              <a:t>The current-milestone card follows the run automatically.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A57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>
                <a:solidFill>
                  <a:srgbClr val="E9EDF6"/>
                </a:solidFill>
                <a:latin typeface="Verdana"/>
              </a:rPr>
              <a:t>That is the whole module.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>
                <a:solidFill>
                  <a:srgbClr val="8B93A7"/>
                </a:solidFill>
                <a:latin typeface="Verdana"/>
              </a:rPr>
              <a:t>Projects hold milestones. Milestones hold tasks. Roadblocks and risks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800" b="0">
                <a:solidFill>
                  <a:srgbClr val="8B93A7"/>
                </a:solidFill>
                <a:latin typeface="Verdana"/>
              </a:rPr>
              <a:t>sit beside them. Membership decides who sees any of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480560"/>
            <a:ext cx="1463040" cy="38100"/>
          </a:xfrm>
          <a:prstGeom prst="rect">
            <a:avLst/>
          </a:prstGeom>
          <a:solidFill>
            <a:srgbClr val="3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5A6274"/>
                </a:solidFill>
                <a:latin typeface="Verdana"/>
              </a:rPr>
              <a:t>ARGONAUT  ·  PROJECT &amp;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